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7CFC2"/>
            </a:solidFill>
          </c:spPr>
          <c:cat>
            <c:strRef>
              <c:f>Sheet1!$A$2:$A$6</c:f>
              <c:strCache>
                <c:ptCount val="5"/>
                <c:pt idx="0">
                  <c:v>Marinas</c:v>
                </c:pt>
                <c:pt idx="1">
                  <c:v>Ferry terminals</c:v>
                </c:pt>
                <c:pt idx="2">
                  <c:v>Anchorages</c:v>
                </c:pt>
                <c:pt idx="3">
                  <c:v>Commercial ports</c:v>
                </c:pt>
                <c:pt idx="4">
                  <c:v>Harbours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1576</c:v>
                </c:pt>
                <c:pt idx="1">
                  <c:v>719</c:v>
                </c:pt>
                <c:pt idx="2">
                  <c:v>308</c:v>
                </c:pt>
                <c:pt idx="3">
                  <c:v>184</c:v>
                </c:pt>
                <c:pt idx="4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E8493"/>
            </a:solidFill>
          </a:ln>
        </c:spPr>
        <c:txPr>
          <a:bodyPr/>
          <a:lstStyle/>
          <a:p>
            <a:pPr>
              <a:defRPr sz="1100">
                <a:solidFill>
                  <a:srgbClr val="9FB4C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Destinations</c:v>
                </c:pt>
              </c:strCache>
            </c:strRef>
          </c:tx>
          <c:dPt>
            <c:idx val="0"/>
            <c:spPr>
              <a:solidFill>
                <a:srgbClr val="17CFC2"/>
              </a:solidFill>
            </c:spPr>
          </c:dPt>
          <c:dPt>
            <c:idx val="1"/>
            <c:spPr>
              <a:solidFill>
                <a:srgbClr val="3FA69E"/>
              </a:solidFill>
            </c:spPr>
          </c:dPt>
          <c:dPt>
            <c:idx val="2"/>
            <c:spPr>
              <a:solidFill>
                <a:srgbClr val="5F8A99"/>
              </a:solidFill>
            </c:spPr>
          </c:dPt>
          <c:dPt>
            <c:idx val="3"/>
            <c:spPr>
              <a:solidFill>
                <a:srgbClr val="7C929E"/>
              </a:solidFill>
            </c:spPr>
          </c:dPt>
          <c:cat>
            <c:strRef>
              <c:f>Sheet1!$A$2:$A$5</c:f>
              <c:strCache>
                <c:ptCount val="4"/>
                <c:pt idx="0">
                  <c:v>Italy</c:v>
                </c:pt>
                <c:pt idx="1">
                  <c:v>Mainland Spain</c:v>
                </c:pt>
                <c:pt idx="2">
                  <c:v>France</c:v>
                </c:pt>
                <c:pt idx="3">
                  <c:v>Balearics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1606</c:v>
                </c:pt>
                <c:pt idx="1">
                  <c:v>494</c:v>
                </c:pt>
                <c:pt idx="2">
                  <c:v>474</c:v>
                </c:pt>
                <c:pt idx="3">
                  <c:v>332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9FB4C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051560"/>
            <a:ext cx="1691640" cy="1691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926080"/>
            <a:ext cx="94457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Cambria"/>
              </a:rPr>
              <a:t>PredSea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57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17CFC2"/>
                </a:solidFill>
                <a:latin typeface="Calibri"/>
              </a:rPr>
              <a:t>The AI First Mate that knows the sea before you leave the dock.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FB4C2"/>
                </a:solidFill>
                <a:latin typeface="Calibri"/>
              </a:rPr>
              <a:t>Conversational AI &amp; High-Resolution Marine Intelligence for the Western Mediterranean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5074920"/>
            <a:ext cx="1371600" cy="15240"/>
          </a:xfrm>
          <a:prstGeom prst="rect">
            <a:avLst/>
          </a:prstGeom>
          <a:solidFill>
            <a:srgbClr val="6E8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25780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FB4C2"/>
                </a:solidFill>
                <a:latin typeface="Calibri"/>
              </a:rPr>
              <a:t>Seed Round  ·  Palma de Mallorca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63640"/>
            <a:ext cx="9445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E8493"/>
                </a:solidFill>
                <a:latin typeface="Calibri"/>
              </a:rPr>
              <a:t>Prepared for Invision Club Deal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Captains need an answer, not more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8493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5999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1400"/>
              </a:spcAft>
              <a:buClr>
                <a:srgbClr val="17CFC2"/>
              </a:buClr>
              <a:buFont typeface="Calibri"/>
              <a:buChar char="—"/>
            </a:pPr>
            <a:r>
              <a:rPr b="1" sz="1450">
                <a:solidFill>
                  <a:srgbClr val="FFFFFF"/>
                </a:solidFill>
                <a:latin typeface="Calibri"/>
              </a:rPr>
              <a:t>App fatigue.  </a:t>
            </a:r>
            <a:r>
              <a:rPr b="0" sz="1450">
                <a:solidFill>
                  <a:srgbClr val="FFFFFF"/>
                </a:solidFill>
                <a:latin typeface="Calibri"/>
              </a:rPr>
              <a:t>Multiple weather consoles and tide charts, just to reach one go/no-go decision.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Clr>
                <a:srgbClr val="17CFC2"/>
              </a:buClr>
              <a:buFont typeface="Calibri"/>
              <a:buChar char="—"/>
            </a:pPr>
            <a:r>
              <a:rPr b="1" sz="1450">
                <a:solidFill>
                  <a:srgbClr val="FFFFFF"/>
                </a:solidFill>
                <a:latin typeface="Calibri"/>
              </a:rPr>
              <a:t>Coarse models.  </a:t>
            </a:r>
            <a:r>
              <a:rPr b="0" sz="1450">
                <a:solidFill>
                  <a:srgbClr val="FFFFFF"/>
                </a:solidFill>
                <a:latin typeface="Calibri"/>
              </a:rPr>
              <a:t>~25km global grids miss the nearshore physics that actually change a passage.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39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1400"/>
              </a:spcAft>
              <a:buClr>
                <a:srgbClr val="17CFC2"/>
              </a:buClr>
              <a:buFont typeface="Calibri"/>
              <a:buChar char="—"/>
            </a:pPr>
            <a:r>
              <a:rPr b="1" sz="1450">
                <a:solidFill>
                  <a:srgbClr val="FFFFFF"/>
                </a:solidFill>
                <a:latin typeface="Calibri"/>
              </a:rPr>
              <a:t>Zero friction.  </a:t>
            </a:r>
            <a:r>
              <a:rPr b="0" sz="1450">
                <a:solidFill>
                  <a:srgbClr val="FFFFFF"/>
                </a:solidFill>
                <a:latin typeface="Calibri"/>
              </a:rPr>
              <a:t>A phone number replaces an app — no install, no account.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Clr>
                <a:srgbClr val="17CFC2"/>
              </a:buClr>
              <a:buFont typeface="Calibri"/>
              <a:buChar char="—"/>
            </a:pPr>
            <a:r>
              <a:rPr b="1" sz="1450">
                <a:solidFill>
                  <a:srgbClr val="FFFFFF"/>
                </a:solidFill>
                <a:latin typeface="Calibri"/>
              </a:rPr>
              <a:t>Reasoning, not telemetry.  </a:t>
            </a:r>
            <a:r>
              <a:rPr b="0" sz="1450">
                <a:solidFill>
                  <a:srgbClr val="FFFFFF"/>
                </a:solidFill>
                <a:latin typeface="Calibri"/>
              </a:rPr>
              <a:t>A direct recommendation against your vessel's own safety envelope.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Clr>
                <a:srgbClr val="17CFC2"/>
              </a:buClr>
              <a:buFont typeface="Calibri"/>
              <a:buChar char="—"/>
            </a:pPr>
            <a:r>
              <a:rPr b="1" sz="1450">
                <a:solidFill>
                  <a:srgbClr val="FFFFFF"/>
                </a:solidFill>
                <a:latin typeface="Calibri"/>
              </a:rPr>
              <a:t>Fleet mode.  </a:t>
            </a:r>
            <a:r>
              <a:rPr b="0" sz="1450">
                <a:solidFill>
                  <a:srgbClr val="FFFFFF"/>
                </a:solidFill>
                <a:latin typeface="Calibri"/>
              </a:rPr>
              <a:t>One query briefs an entire charter fleet — which boat should delay, and why.</a:t>
            </a:r>
          </a:p>
        </p:txBody>
      </p:sp>
      <p:pic>
        <p:nvPicPr>
          <p:cNvPr id="9" name="Picture 8" descr="product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868680"/>
            <a:ext cx="4279392" cy="5349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A real physics stack, built to be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9FB4C2"/>
                </a:solidFill>
                <a:latin typeface="Calibri"/>
              </a:rPr>
              <a:t>Four layers, each independently upgradeable — no single third-party dependency the whole product relies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2679192" cy="278892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791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CFC2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22768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Atmospheric model — WRF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23360"/>
            <a:ext cx="2276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4C2"/>
                </a:solidFill>
                <a:latin typeface="Calibri"/>
              </a:rPr>
              <a:t>Own-compiled WRF, nested to 3km over the Western Med, run daily on GCP Spot VMs. Genuinely ours, not a repackaged feed.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514600"/>
            <a:ext cx="2679192" cy="278892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6791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FA69E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246120"/>
            <a:ext cx="22768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Ocean &amp; wave model — PredSea 1km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023360"/>
            <a:ext cx="2276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4C2"/>
                </a:solidFill>
                <a:latin typeface="Calibri"/>
              </a:rPr>
              <a:t>Our own-compiled coupled wave &amp; current solver (SWAN, CROCO, NEMO), run daily at 1km resolution over the Western Med — fully in-house, replacing third-party regional licensing.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514600"/>
            <a:ext cx="2679192" cy="278892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6791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F8A99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246120"/>
            <a:ext cx="22768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Live observational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23360"/>
            <a:ext cx="2276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4C2"/>
                </a:solidFill>
                <a:latin typeface="Calibri"/>
              </a:rPr>
              <a:t>Hourly bias-checking against SOCIB buoys, coastal radar, gliders and Puertos del Estado gauges.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2514600"/>
            <a:ext cx="2679192" cy="278892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6791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C929E"/>
                </a:solidFill>
                <a:latin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46120"/>
            <a:ext cx="22768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 reasoning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023360"/>
            <a:ext cx="2276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B4C2"/>
                </a:solidFill>
                <a:latin typeface="Calibri"/>
              </a:rPr>
              <a:t>A custom, in-house agent turns natural language into spatial-temporal queries and replies in captain-grade language.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17CFC2"/>
                </a:solidFill>
                <a:latin typeface="Calibri"/>
              </a:rPr>
              <a:t>Every layer is fully owned and operated in-house — no single third-party model dependency. Next: continuous accuracy benchmarking against SOCIB and Puertos del Estado buoys as the fleet scales.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A basin we can already map, hull by hull.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0253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CFC2"/>
                </a:solidFill>
                <a:latin typeface="Cambria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86583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Global marine nav &amp; weather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00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~$1.2B → ~$2.5B by early 2030s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8327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8493"/>
                </a:solidFill>
                <a:latin typeface="Calibri"/>
              </a:rPr>
              <a:t>Directional industry 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7451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00253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CFC2"/>
                </a:solidFill>
                <a:latin typeface="Cambria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86583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Western Med charter &amp; coastal-commercial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9900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Spain · France · Italy — Gibraltar Strait to Sicily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38327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8493"/>
                </a:solidFill>
                <a:latin typeface="Calibri"/>
              </a:rPr>
              <a:t>Current modelling &amp; registry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87451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00253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CFC2"/>
                </a:solidFill>
                <a:latin typeface="Cambria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386583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Charter fleets, skippers &amp; sailing schools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99008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Across the Western 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8327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8493"/>
                </a:solidFill>
                <a:latin typeface="Calibri"/>
              </a:rPr>
              <a:t>Live pilot beachhead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Charted Western Med infrastructure (our own registry)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48640" y="4370832"/>
          <a:ext cx="548640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92240" y="3977639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Geographic split — 2,955 destinations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92240" y="4370832"/>
          <a:ext cx="516636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Two paying markets — B2C captains, B2B fleets.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 w="9525">
            <a:solidFill>
              <a:srgbClr val="1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Co-Captain</a:t>
            </a:r>
          </a:p>
        </p:txBody>
      </p:sp>
      <p:sp>
        <p:nvSpPr>
          <p:cNvPr id="7" name="Oval 6"/>
          <p:cNvSpPr/>
          <p:nvPr/>
        </p:nvSpPr>
        <p:spPr>
          <a:xfrm>
            <a:off x="5074920" y="2221992"/>
            <a:ext cx="502920" cy="502920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81A28"/>
                </a:solidFill>
                <a:latin typeface="Calibri"/>
              </a:rPr>
              <a:t>B2C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7CFC2"/>
                </a:solidFill>
                <a:latin typeface="Cambria"/>
              </a:rPr>
              <a:t>€49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644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8493"/>
                </a:solidFill>
                <a:latin typeface="Calibri"/>
              </a:rPr>
              <a:t>/ vessel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85032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Individual captains &amp; yacht owners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Hourly high-res forecast, 5-day horizon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WhatsApp daily brief + hazard alerts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Vessel-specific comfort 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6596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Fleet &amp; Enterprise</a:t>
            </a:r>
          </a:p>
        </p:txBody>
      </p:sp>
      <p:sp>
        <p:nvSpPr>
          <p:cNvPr id="13" name="Oval 12"/>
          <p:cNvSpPr/>
          <p:nvPr/>
        </p:nvSpPr>
        <p:spPr>
          <a:xfrm>
            <a:off x="10725912" y="2221992"/>
            <a:ext cx="502920" cy="502920"/>
          </a:xfrm>
          <a:prstGeom prst="ellipse">
            <a:avLst/>
          </a:prstGeom>
          <a:solidFill>
            <a:srgbClr val="6E8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81A28"/>
                </a:solidFill>
                <a:latin typeface="Calibri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26440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8493"/>
                </a:solidFill>
                <a:latin typeface="Calibri"/>
              </a:rPr>
              <a:t>fleet / enterprise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685032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Charter fleet operators &amp; yacht managers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Centralized multi-vessel console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Fuel-waste &amp; pathing audits</a:t>
            </a:r>
          </a:p>
          <a:p>
            <a:pPr indent="-182880" marL="182880">
              <a:lnSpc>
                <a:spcPct val="108000"/>
              </a:lnSpc>
              <a:spcAft>
                <a:spcPts val="900"/>
              </a:spcAft>
              <a:buClr>
                <a:srgbClr val="17CFC2"/>
              </a:buClr>
              <a:buFont typeface="Calibri"/>
              <a:buChar char="—"/>
            </a:pPr>
            <a:r>
              <a:rPr sz="1250">
                <a:solidFill>
                  <a:srgbClr val="9FB4C2"/>
                </a:solidFill>
                <a:latin typeface="Calibri"/>
              </a:rPr>
              <a:t>Priority onboarding &amp;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High-margin secondary 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Developer API (marine hardware makers)  ·  Event &amp; regatta forecasts  ·  Data &amp; forecast licensing (insurers, ports, research)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Charter fleets first, distributed through the show circuit.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8000"/>
              </a:lnSpc>
              <a:spcAft>
                <a:spcPts val="1000"/>
              </a:spcAft>
              <a:buClr>
                <a:srgbClr val="17CFC2"/>
              </a:buClr>
              <a:buFont typeface="Calibri"/>
              <a:buChar char="—"/>
            </a:pPr>
            <a:r>
              <a:rPr b="1" sz="1400">
                <a:solidFill>
                  <a:srgbClr val="FFFFFF"/>
                </a:solidFill>
                <a:latin typeface="Calibri"/>
              </a:rPr>
              <a:t>Charter fleet managers.  </a:t>
            </a:r>
            <a:r>
              <a:rPr b="0" sz="1400">
                <a:solidFill>
                  <a:srgbClr val="FFFFFF"/>
                </a:solidFill>
                <a:latin typeface="Calibri"/>
              </a:rPr>
              <a:t>One relationship lands 15-40 vessels at once. 25+ years of Med captaincy gives direct, warm access.</a:t>
            </a:r>
          </a:p>
          <a:p>
            <a:pPr indent="-182880" marL="182880">
              <a:lnSpc>
                <a:spcPct val="108000"/>
              </a:lnSpc>
              <a:spcAft>
                <a:spcPts val="1000"/>
              </a:spcAft>
              <a:buClr>
                <a:srgbClr val="17CFC2"/>
              </a:buClr>
              <a:buFont typeface="Calibri"/>
              <a:buChar char="—"/>
            </a:pPr>
            <a:r>
              <a:rPr b="1" sz="1400">
                <a:solidFill>
                  <a:srgbClr val="FFFFFF"/>
                </a:solidFill>
                <a:latin typeface="Calibri"/>
              </a:rPr>
              <a:t>Product-led distribution.  </a:t>
            </a:r>
            <a:r>
              <a:rPr b="0" sz="1400">
                <a:solidFill>
                  <a:srgbClr val="FFFFFF"/>
                </a:solidFill>
                <a:latin typeface="Calibri"/>
              </a:rPr>
              <a:t>A phone number replaces an app-store funnel — lower CAC, organic word-of-mouth.</a:t>
            </a:r>
          </a:p>
          <a:p>
            <a:pPr indent="-182880" marL="182880">
              <a:lnSpc>
                <a:spcPct val="108000"/>
              </a:lnSpc>
              <a:spcAft>
                <a:spcPts val="1000"/>
              </a:spcAft>
              <a:buClr>
                <a:srgbClr val="17CFC2"/>
              </a:buClr>
              <a:buFont typeface="Calibri"/>
              <a:buChar char="—"/>
            </a:pPr>
            <a:r>
              <a:rPr b="1" sz="1400">
                <a:solidFill>
                  <a:srgbClr val="FFFFFF"/>
                </a:solidFill>
                <a:latin typeface="Calibri"/>
              </a:rPr>
              <a:t>Non-dilutive tracks.  </a:t>
            </a:r>
            <a:r>
              <a:rPr b="0" sz="1400">
                <a:solidFill>
                  <a:srgbClr val="FFFFFF"/>
                </a:solidFill>
                <a:latin typeface="Calibri"/>
              </a:rPr>
              <a:t>Horizon Europe, CDTI, ESA BIC Spain and ENISA (Spain) run alongside the raise to extend runway.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96596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2026 Boat show 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231136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FB4C2"/>
                </a:solidFill>
                <a:latin typeface="Calibri"/>
              </a:rPr>
              <a:t>Year 1: attend only  ·  Year 2+: exhibit via Balearic Marine Cluster / yachting-venture partnerships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78608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01968" y="2633472"/>
            <a:ext cx="310896" cy="310896"/>
          </a:xfrm>
          <a:prstGeom prst="ellipse">
            <a:avLst/>
          </a:prstGeom>
          <a:solidFill>
            <a:srgbClr val="0E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7CFC2"/>
                </a:solidFill>
                <a:latin typeface="Calibri"/>
              </a:rPr>
              <a:t>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261518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Monaco Yacht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28254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FB4C2"/>
                </a:solidFill>
                <a:latin typeface="Calibri"/>
              </a:rPr>
              <a:t>Monaco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95243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01968" y="3150107"/>
            <a:ext cx="310896" cy="310896"/>
          </a:xfrm>
          <a:prstGeom prst="ellipse">
            <a:avLst/>
          </a:prstGeom>
          <a:solidFill>
            <a:srgbClr val="0E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7CFC2"/>
                </a:solidFill>
                <a:latin typeface="Calibri"/>
              </a:rPr>
              <a:t>OCT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131819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Barcelona Boat 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3342131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FB4C2"/>
                </a:solidFill>
                <a:latin typeface="Calibri"/>
              </a:rPr>
              <a:t>Spain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11878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1968" y="3666742"/>
            <a:ext cx="310896" cy="310896"/>
          </a:xfrm>
          <a:prstGeom prst="ellipse">
            <a:avLst/>
          </a:prstGeom>
          <a:solidFill>
            <a:srgbClr val="0E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7CFC2"/>
                </a:solidFill>
                <a:latin typeface="Calibri"/>
              </a:rPr>
              <a:t>OCT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64845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METSTRADE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385876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FB4C2"/>
                </a:solidFill>
                <a:latin typeface="Calibri"/>
              </a:rPr>
              <a:t>Netherlands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128513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1968" y="4183377"/>
            <a:ext cx="310896" cy="310896"/>
          </a:xfrm>
          <a:prstGeom prst="ellipse">
            <a:avLst/>
          </a:prstGeom>
          <a:solidFill>
            <a:srgbClr val="0E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7CFC2"/>
                </a:solidFill>
                <a:latin typeface="Calibri"/>
              </a:rPr>
              <a:t>OCT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4165089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Genoa Int'l Boat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375401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FB4C2"/>
                </a:solidFill>
                <a:latin typeface="Calibri"/>
              </a:rPr>
              <a:t>Italy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645148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01968" y="4700012"/>
            <a:ext cx="310896" cy="310896"/>
          </a:xfrm>
          <a:prstGeom prst="ellipse">
            <a:avLst/>
          </a:prstGeom>
          <a:solidFill>
            <a:srgbClr val="0E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17CFC2"/>
                </a:solidFill>
                <a:latin typeface="Calibri"/>
              </a:rPr>
              <a:t>NOV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6817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Fort Lauderdale Show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8920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FB4C2"/>
                </a:solidFill>
                <a:latin typeface="Calibri"/>
              </a:rPr>
              <a:t>USA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67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CFC2"/>
                </a:solidFill>
                <a:latin typeface="Calibri"/>
              </a:rPr>
              <a:t>LONG-TERM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FB4C2"/>
                </a:solidFill>
                <a:latin typeface="Calibri"/>
              </a:rPr>
              <a:t>The Western Med is the beachhead, not the ceiling: our pilot already spans Gibraltar Strait to Sicily; further basins (Canary Islands, North Sea, a counter-seasonal Caribbean) follow once this basin's coverage and metrics are proven.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Past the build phase — live in a real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09397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2082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Live pilot with an initial cohort of yacht captains across the Western Med, delivered end-to-end on WhatsApp.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5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55701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8386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Daily automated WRF regional model runs on GCP Spot VMs, feeding a production FastAPI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59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502005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4690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Fully separated, IAM-isolated test and production environments with a documented deploy/rollback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209397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2082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Live hazards endpoint merging official AEMET alerts with statistical anomaly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3755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355701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8386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Institutional data partnership with SOCIB — deep-sea buoy, coastal radar and glider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00599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5020055"/>
            <a:ext cx="384048" cy="38404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081A2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46903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4C2"/>
                </a:solidFill>
                <a:latin typeface="Calibri"/>
              </a:rPr>
              <a:t>Own-compiled SWAN / CROCO / NEMO wave-and-current solver, run daily at 1km resolution over the Western 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Not a better map — a different delivery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4343400" cy="457200"/>
          </a:xfrm>
          <a:prstGeom prst="roundRect">
            <a:avLst>
              <a:gd name="adj" fmla="val 15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Global incumbents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828800"/>
            <a:ext cx="4434840" cy="457200"/>
          </a:xfrm>
          <a:prstGeom prst="roundRect">
            <a:avLst>
              <a:gd name="adj" fmla="val 15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CFC2"/>
                </a:solidFill>
                <a:latin typeface="Calibri"/>
              </a:rPr>
              <a:t>PredSea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19456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77440"/>
            <a:ext cx="434340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450592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 download, account setup, logins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377440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450592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Zero — start chatting on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82112"/>
            <a:ext cx="219456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55264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182112"/>
            <a:ext cx="434340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255264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Complex dashboards; captain interprets raw layers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182112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255264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AI-driven briefing with a direct recommendation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86784"/>
            <a:ext cx="219456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59936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Forecast source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986784"/>
            <a:ext cx="434340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059936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Repackaged global models (~25km grids)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3986784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059936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Own WRF (3km) + own 1km wave/current model + live buoy 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91456"/>
            <a:ext cx="219456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64608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4791456"/>
            <a:ext cx="434340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864608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 real-time bias correction disclosed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4791456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864608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Hourly bias pipeline; own solver validation is a near-term milestone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96128"/>
            <a:ext cx="219456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CFC2"/>
                </a:solidFill>
                <a:latin typeface="Calibri"/>
              </a:rPr>
              <a:t>Distribution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5596128"/>
            <a:ext cx="4343400" cy="713232"/>
          </a:xfrm>
          <a:prstGeom prst="roundRect">
            <a:avLst>
              <a:gd name="adj" fmla="val 12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566928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Paid app-install marketing, high drop-off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5596128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566928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Word-of-mouth inside captain &amp; fleet networks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Four founders. One signed agreement.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679192" cy="329184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67128"/>
            <a:ext cx="566928" cy="56692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81A28"/>
                </a:solidFill>
                <a:latin typeface="Calibri"/>
              </a:rPr>
              <a:t>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276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Charles Santana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19272"/>
            <a:ext cx="22768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7CFC2"/>
                </a:solidFill>
                <a:latin typeface="Calibri"/>
              </a:rPr>
              <a:t>Co-Founder &amp; Technical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86200"/>
            <a:ext cx="22768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PhD in climate/oceanography. Designs the coupled models, data pipelines and API stack. Previously co-founded Kultrip.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965960"/>
            <a:ext cx="2679192" cy="329184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47872" y="2167128"/>
            <a:ext cx="566928" cy="56692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81A28"/>
                </a:solidFill>
                <a:latin typeface="Calibri"/>
              </a:rPr>
              <a:t>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880360"/>
            <a:ext cx="2276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Kobus Wentzel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319272"/>
            <a:ext cx="22768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7CFC2"/>
                </a:solidFill>
                <a:latin typeface="Calibri"/>
              </a:rPr>
              <a:t>Co-Founder &amp; Software /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886200"/>
            <a:ext cx="22768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Leads software engineering and AI architecture, including conversational-platform integration and routing.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965960"/>
            <a:ext cx="2679192" cy="329184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2167128"/>
            <a:ext cx="566928" cy="56692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81A28"/>
                </a:solidFill>
                <a:latin typeface="Calibri"/>
              </a:rPr>
              <a:t>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880360"/>
            <a:ext cx="2276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Matt Bullamore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319272"/>
            <a:ext cx="22768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7CFC2"/>
                </a:solidFill>
                <a:latin typeface="Calibri"/>
              </a:rPr>
              <a:t>Co-Founder &amp; Product /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886200"/>
            <a:ext cx="22768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Leads product and the conversational infrastructure behind WhatsApp; drives AI-leveraged acquisition.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1965960"/>
            <a:ext cx="2679192" cy="329184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2167128"/>
            <a:ext cx="566928" cy="566928"/>
          </a:xfrm>
          <a:prstGeom prst="ellipse">
            <a:avLst/>
          </a:prstGeom>
          <a:solidFill>
            <a:srgbClr val="17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81A28"/>
                </a:solidFill>
                <a:latin typeface="Calibri"/>
              </a:rPr>
              <a:t>GW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880360"/>
            <a:ext cx="22768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Graham Wilkinson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19272"/>
            <a:ext cx="227685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7CFC2"/>
                </a:solidFill>
                <a:latin typeface="Calibri"/>
              </a:rPr>
              <a:t>Co-Founder &amp; Maritime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86200"/>
            <a:ext cx="22768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25+ years as a professional superyacht captain across the Western Med. Key charter-network relationships.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5955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FB4C2"/>
                </a:solidFill>
                <a:latin typeface="Calibri"/>
              </a:rPr>
              <a:t>Equal 25% equity in PredSea and in the founders' separate Consultancy practice under a signed Founders' Memorandum of Agreement, IP assigned to the Company with one disclosed carve-out — formal incorporation in progress.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Beachhead to regional scale in three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E8493"/>
                </a:solidFill>
                <a:latin typeface="Calibri"/>
              </a:rPr>
              <a:t>Target growth plan, not measured traction. See Business Plan §7.5/§13.2/§13.2b.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854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210312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1854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Year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4888" y="210312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21854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Year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210312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21854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Year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0028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014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Contracted vessels (year-end)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4" y="251002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60146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251002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260146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1,050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251002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60146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5,200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16936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00837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Exit ARR (year-end vessels × €49 × 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1184" y="291693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1184" y="300837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€58,800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4888" y="291693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300837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€617,400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8592" y="291693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300837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€3,057,600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23844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41528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PredSea billed revenue (in-year)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01184" y="332384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34152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€20,874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04888" y="332384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4888" y="34152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€282,240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08592" y="332384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34152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€1,587,600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730752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822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Consultancy revenue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01184" y="3730752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8221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€22,500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04888" y="3730752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8221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€60,000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08592" y="3730752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8592" y="38221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€90,000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137660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2291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Total billed revenue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1184" y="413766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01184" y="42291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€43,374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4888" y="413766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4888" y="42291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€342,240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08592" y="413766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8592" y="42291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€1,677,600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544568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46360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Operating costs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01184" y="454456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01184" y="4636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€316,000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04888" y="454456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04888" y="4636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€386,000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08592" y="4544568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08592" y="4636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€640,400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951476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0429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EBITDA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01184" y="495147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01184" y="50429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8A80"/>
                </a:solidFill>
                <a:latin typeface="Calibri"/>
              </a:rPr>
              <a:t>(€272,626)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04888" y="495147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04888" y="50429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8A80"/>
                </a:solidFill>
                <a:latin typeface="Calibri"/>
              </a:rPr>
              <a:t>(€43,760)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08592" y="4951476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08592" y="50429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CFC2"/>
                </a:solidFill>
                <a:latin typeface="Calibri"/>
              </a:rPr>
              <a:t>€1,037,200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358384"/>
            <a:ext cx="429768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544982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Exit ARR ÷ operating costs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01184" y="535838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01184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0.19x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104888" y="535838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04888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1.60x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08592" y="5358384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08592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4.77x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8750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FB4C2"/>
                </a:solidFill>
                <a:latin typeface="Calibri"/>
              </a:rPr>
              <a:t>€49/vessel/month held flat · 85%+ B2B SaaS gross margin target on PredSea revenue. Consultancy revenue is separate client work from the founders' Consultancy practice, unrelated to PredSea's SaaS product, and is not SaaS-multiple-eligible — shown separately for transparency.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CFC2"/>
                </a:solidFill>
                <a:latin typeface="Calibri"/>
              </a:rPr>
              <a:t>THE ASK &amp;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A scoped raise, built toward a strategic exit.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6-month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CFC2"/>
                </a:solidFill>
                <a:latin typeface="Cambria"/>
              </a:rPr>
              <a:t>€158,000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B4C2"/>
                </a:solidFill>
                <a:latin typeface="Calibri"/>
              </a:rPr>
              <a:t>11.6% investor equity post-money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E8493"/>
                </a:solidFill>
                <a:latin typeface="Calibri"/>
              </a:rPr>
              <a:t>€1.2M pre-money · €1.358M post-money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468112" cy="1783080"/>
          </a:xfrm>
          <a:prstGeom prst="roundRect">
            <a:avLst>
              <a:gd name="adj" fmla="val 8000"/>
            </a:avLst>
          </a:prstGeom>
          <a:solidFill>
            <a:srgbClr val="143347"/>
          </a:solidFill>
          <a:ln w="9525">
            <a:solidFill>
              <a:srgbClr val="1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751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12-month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CFC2"/>
                </a:solidFill>
                <a:latin typeface="Cambria"/>
              </a:rPr>
              <a:t>€316,000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803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B4C2"/>
                </a:solidFill>
                <a:latin typeface="Calibri"/>
              </a:rPr>
              <a:t>20.8% investor equity post-money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E8493"/>
                </a:solidFill>
                <a:latin typeface="Calibri"/>
              </a:rPr>
              <a:t>€1.2M pre-money · €1.516M post-money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FB4C2"/>
                </a:solidFill>
                <a:latin typeface="Calibri"/>
              </a:rPr>
              <a:t>Use of funds: founder salaries, cloud compute, AI tooling, marketing and the boat-show circuit.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Targeting exit within 3.5–4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01184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Marine hardware &amp; electronics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68112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A turn-key conversational layer for commodity chartplotters.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4754880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4901184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Big tech &amp; climate-tech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5468112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A GCP-native regional environmental-intelligence feed.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4754880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10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901184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7CFC2"/>
                </a:solidFill>
                <a:latin typeface="Calibri"/>
              </a:rPr>
              <a:t>Marine software &amp; 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68112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4C2"/>
                </a:solidFill>
                <a:latin typeface="Calibri"/>
              </a:rPr>
              <a:t>Proprietary coastal wave/current modeling for fleet-management platforms.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PredSea · Seed Round ·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E84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0515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423160"/>
            <a:ext cx="94457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Let's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5468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7CFC2"/>
                </a:solidFill>
                <a:latin typeface="Calibri"/>
              </a:rPr>
              <a:t>predsea.com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FB4C2"/>
                </a:solidFill>
                <a:latin typeface="Calibri"/>
              </a:rPr>
              <a:t>Charles Santana · Co-Founder &amp; Technical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39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8493"/>
                </a:solidFill>
                <a:latin typeface="Calibri"/>
              </a:rPr>
              <a:t>charles@predsea.com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E8493"/>
                </a:solidFill>
                <a:latin typeface="Calibri"/>
              </a:rPr>
              <a:t>PredSea Systems · Est. 2025 · Palma de Mallorca · 39°34'N · 02°39'E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